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5c0ba216f24fdc" /><Relationship Type="http://schemas.openxmlformats.org/officeDocument/2006/relationships/extended-properties" Target="/docProps/app.xml" Id="Re67715d015d749ba" /><Relationship Type="http://schemas.openxmlformats.org/officeDocument/2006/relationships/officeDocument" Target="/ppt/presentation.xml" Id="Rb9bbbee186a049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67534bfd964418"/>
  </p:sldMasterIdLst>
  <p:notesMasterIdLst>
    <p:notesMasterId xmlns:r="http://schemas.openxmlformats.org/officeDocument/2006/relationships" r:id="Re797217d60964baa"/>
  </p:notesMasterIdLst>
  <p:sldIdLst>
    <p:sldId xmlns:r="http://schemas.openxmlformats.org/officeDocument/2006/relationships" id="256" r:id="Rbb996b3d5a9c45ab"/>
    <p:sldId xmlns:r="http://schemas.openxmlformats.org/officeDocument/2006/relationships" id="257" r:id="R8d4262e67d7a41fd"/>
    <p:sldId xmlns:r="http://schemas.openxmlformats.org/officeDocument/2006/relationships" id="258" r:id="R3d0cc1607c54417b"/>
    <p:sldId xmlns:r="http://schemas.openxmlformats.org/officeDocument/2006/relationships" id="259" r:id="Rc24d7edf0a254f62"/>
    <p:sldId xmlns:r="http://schemas.openxmlformats.org/officeDocument/2006/relationships" id="260" r:id="R36802f8481d04d8e"/>
    <p:sldId xmlns:r="http://schemas.openxmlformats.org/officeDocument/2006/relationships" id="261" r:id="R363cee937ca348a3"/>
    <p:sldId xmlns:r="http://schemas.openxmlformats.org/officeDocument/2006/relationships" id="262" r:id="R4fbcaa40dd2149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7a95f507384508" /><Relationship Type="http://schemas.openxmlformats.org/officeDocument/2006/relationships/slideMaster" Target="/ppt/slideMasters/slideMaster1.xml" Id="Rf467534bfd964418" /><Relationship Type="http://schemas.openxmlformats.org/officeDocument/2006/relationships/notesMaster" Target="/ppt/notesMasters/notesMaster1.xml" Id="Re797217d60964baa" /><Relationship Type="http://schemas.openxmlformats.org/officeDocument/2006/relationships/presProps" Target="/ppt/presProps.xml" Id="Rfa0bf2b718214f6b" /><Relationship Type="http://schemas.openxmlformats.org/officeDocument/2006/relationships/tableStyles" Target="/ppt/tableStyles.xml" Id="Re65678d1299a4a9b" /><Relationship Type="http://schemas.openxmlformats.org/officeDocument/2006/relationships/slide" Target="/ppt/slides/slide1.xml" Id="Rbb996b3d5a9c45ab" /><Relationship Type="http://schemas.openxmlformats.org/officeDocument/2006/relationships/slide" Target="/ppt/slides/slide2.xml" Id="R8d4262e67d7a41fd" /><Relationship Type="http://schemas.openxmlformats.org/officeDocument/2006/relationships/slide" Target="/ppt/slides/slide3.xml" Id="R3d0cc1607c54417b" /><Relationship Type="http://schemas.openxmlformats.org/officeDocument/2006/relationships/slide" Target="/ppt/slides/slide4.xml" Id="Rc24d7edf0a254f62" /><Relationship Type="http://schemas.openxmlformats.org/officeDocument/2006/relationships/slide" Target="/ppt/slides/slide5.xml" Id="R36802f8481d04d8e" /><Relationship Type="http://schemas.openxmlformats.org/officeDocument/2006/relationships/slide" Target="/ppt/slides/slide6.xml" Id="R363cee937ca348a3" /><Relationship Type="http://schemas.openxmlformats.org/officeDocument/2006/relationships/slide" Target="/ppt/slides/slide7.xml" Id="R4fbcaa40dd2149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71448fe0454b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74412dc515462c" /><Relationship Type="http://schemas.openxmlformats.org/officeDocument/2006/relationships/notesMaster" Target="/ppt/notesMasters/notesMaster1.xml" Id="Rc51939e3697d4f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a7e93d5582415f" /><Relationship Type="http://schemas.openxmlformats.org/officeDocument/2006/relationships/notesMaster" Target="/ppt/notesMasters/notesMaster1.xml" Id="R90940179f5434c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a7a0044def4211" /><Relationship Type="http://schemas.openxmlformats.org/officeDocument/2006/relationships/notesMaster" Target="/ppt/notesMasters/notesMaster1.xml" Id="R04a598974b154f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99405e6bf64f33" /><Relationship Type="http://schemas.openxmlformats.org/officeDocument/2006/relationships/notesMaster" Target="/ppt/notesMasters/notesMaster1.xml" Id="R876335c4fba147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a4768e8ae34b19" /><Relationship Type="http://schemas.openxmlformats.org/officeDocument/2006/relationships/notesMaster" Target="/ppt/notesMasters/notesMaster1.xml" Id="R73dd81b18a9c44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8a62c3cf8f4f86" /><Relationship Type="http://schemas.openxmlformats.org/officeDocument/2006/relationships/notesMaster" Target="/ppt/notesMasters/notesMaster1.xml" Id="R0807d893806e42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5ae04200f44e03" /><Relationship Type="http://schemas.openxmlformats.org/officeDocument/2006/relationships/notesMaster" Target="/ppt/notesMasters/notesMaster1.xml" Id="R9962c50423de4e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simulation and analysis created by Nahida Iqbal.</a:t>
            </a:r>
          </a:p>
          <a:p xmlns:a="http://schemas.openxmlformats.org/drawingml/2006/main">
            <a:r>
              <a:t>- No external images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simulation and analysis created by Nahida Iqbal.</a:t>
            </a:r>
          </a:p>
          <a:p xmlns:a="http://schemas.openxmlformats.org/drawingml/2006/main">
            <a:r>
              <a:t>- No external images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simulation and analysis created by Nahida Iqbal.</a:t>
            </a:r>
          </a:p>
          <a:p xmlns:a="http://schemas.openxmlformats.org/drawingml/2006/main">
            <a:r>
              <a:t>- No external images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Dataset dimensions and validation checks from the project DataFrame.</a:t>
            </a:r>
          </a:p>
          <a:p xmlns:a="http://schemas.openxmlformats.org/drawingml/2006/main">
            <a:r>
              <a:t>- No external images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Values calculated from 1,000 simulated games: X 596, O 272, Draw 132.</a:t>
            </a:r>
          </a:p>
          <a:p xmlns:a="http://schemas.openxmlformats.org/drawingml/2006/main">
            <a:r>
              <a:t>- No external images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simulation and analysis created by Nahida Iqbal.</a:t>
            </a:r>
          </a:p>
          <a:p xmlns:a="http://schemas.openxmlformats.org/drawingml/2006/main">
            <a:r>
              <a:t>- No external images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simulation and analysis created by Nahida Iqbal.</a:t>
            </a:r>
          </a:p>
          <a:p xmlns:a="http://schemas.openxmlformats.org/drawingml/2006/main">
            <a:r>
              <a:t>- No external images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161cdd12546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21b12a40a94ee5" /><Relationship Type="http://schemas.openxmlformats.org/officeDocument/2006/relationships/slideLayout" Target="/ppt/slideLayouts/slideLayout1.xml" Id="R978a01c9a6a542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a01c9a6a542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c5b294f6b47af" /><Relationship Type="http://schemas.openxmlformats.org/officeDocument/2006/relationships/notesSlide" Target="/ppt/notesSlides/notesSlide1.xml" Id="R56c7523d161f4b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37dd26acc4b00" /><Relationship Type="http://schemas.openxmlformats.org/officeDocument/2006/relationships/notesSlide" Target="/ppt/notesSlides/notesSlide2.xml" Id="Rec99ed5ab2f64b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865c363b84a77" /><Relationship Type="http://schemas.openxmlformats.org/officeDocument/2006/relationships/notesSlide" Target="/ppt/notesSlides/notesSlide3.xml" Id="R1366a3931b9c41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c755e90a84059" /><Relationship Type="http://schemas.openxmlformats.org/officeDocument/2006/relationships/notesSlide" Target="/ppt/notesSlides/notesSlide4.xml" Id="R1f84d102e7034d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aa3ca3fea4678" /><Relationship Type="http://schemas.openxmlformats.org/officeDocument/2006/relationships/chart" Target="/ppt/slides/charts/chart1.xml" Id="R9f79c095f9914b03" /><Relationship Type="http://schemas.openxmlformats.org/officeDocument/2006/relationships/notesSlide" Target="/ppt/notesSlides/notesSlide5.xml" Id="R076baec8bb784c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b176faecd4b97" /><Relationship Type="http://schemas.openxmlformats.org/officeDocument/2006/relationships/notesSlide" Target="/ppt/notesSlides/notesSlide6.xml" Id="R57f3349050454e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2f9ca98d94440" /><Relationship Type="http://schemas.openxmlformats.org/officeDocument/2006/relationships/notesSlide" Target="/ppt/notesSlides/notesSlide7.xml" Id="R4bffa4c6256f48a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Games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cat>
            <c:strLit>
              <c:ptCount val="3"/>
              <c:pt idx="0">
                <c:v>X Win</c:v>
              </c:pt>
              <c:pt idx="1">
                <c:v>O Win</c:v>
              </c:pt>
              <c:pt idx="2">
                <c:v>Draw</c:v>
              </c:pt>
            </c:strLit>
          </c:cat>
          <c:val>
            <c:numLit>
              <c:formatCode>General</c:formatCode>
              <c:ptCount val="3"/>
              <c:pt idx="0">
                <c:v>596</c:v>
              </c:pt>
              <c:pt idx="1">
                <c:v>272</c:v>
              </c:pt>
              <c:pt idx="2">
                <c:v>132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DC3996F-D6B7-4273-8EFF-DE2CCE1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Tic-Tac-Toe
simulation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769E3B0-FF19-4762-B197-EAFCD8D9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1,000 games • reproducible data • first-player advantage
Nahida Iqbal | SIUE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8829FFC-BAD8-4603-A471-C53B89C1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SCIENCE PROJECT</a:t>
            </a:r>
          </a:p>
        </p:txBody>
      </p:sp>
    </p:spTree>
    <p:extLst>
      <p:ext uri="{BB962C8B-B14F-4D97-AF65-F5344CB8AC3E}">
        <p14:creationId xmlns:p14="http://schemas.microsoft.com/office/powerpoint/2010/main" val="1376905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72D672-4FF7-4C5E-B8B2-4EB158EB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simple game becomes a reproducible experiment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33A74BF-1735-4DA0-9378-A5B7209B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text-box">
            <a:extLst xmlns:a="http://schemas.openxmlformats.org/drawingml/2006/main">
              <a:ext uri="{FF2B5EF4-FFF2-40B4-BE49-F238E27FC236}">
                <a16:creationId xmlns:a16="http://schemas.microsoft.com/office/drawing/2014/main" id="{B433961C-B303-4F11-8E2F-BA38AF1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PROJECT QUESTION</a:t>
            </a:r>
          </a:p>
        </p:txBody>
      </p:sp>
      <p:sp>
        <p:nvSpPr>
          <p:cNvPr id="4" name="text-box">
            <a:extLst xmlns:a="http://schemas.openxmlformats.org/drawingml/2006/main">
              <a:ext uri="{FF2B5EF4-FFF2-40B4-BE49-F238E27FC236}">
                <a16:creationId xmlns:a16="http://schemas.microsoft.com/office/drawing/2014/main" id="{C4425B20-D017-4AC1-9536-F3F1B42E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patterns appear when two random players complete 1,000 Tic-Tac-Toe games?</a:t>
            </a:r>
          </a:p>
        </p:txBody>
      </p:sp>
      <p:sp>
        <p:nvSpPr>
          <p:cNvPr id="5" name="text-box">
            <a:extLst xmlns:a="http://schemas.openxmlformats.org/drawingml/2006/main">
              <a:ext uri="{FF2B5EF4-FFF2-40B4-BE49-F238E27FC236}">
                <a16:creationId xmlns:a16="http://schemas.microsoft.com/office/drawing/2014/main" id="{FFC8D3C1-7C08-4D13-BC66-8EA2EC4F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The experiment measures outcome frequency, first-player advantage, and game length.</a:t>
            </a:r>
          </a:p>
        </p:txBody>
      </p:sp>
      <p:sp>
        <p:nvSpPr>
          <p:cNvPr id="6" name="design-panel">
            <a:extLst xmlns:a="http://schemas.openxmlformats.org/drawingml/2006/main">
              <a:ext uri="{FF2B5EF4-FFF2-40B4-BE49-F238E27FC236}">
                <a16:creationId xmlns:a16="http://schemas.microsoft.com/office/drawing/2014/main" id="{E106C317-341C-4CA8-AE89-2A3A66E6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52197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-box">
            <a:extLst xmlns:a="http://schemas.openxmlformats.org/drawingml/2006/main">
              <a:ext uri="{FF2B5EF4-FFF2-40B4-BE49-F238E27FC236}">
                <a16:creationId xmlns:a16="http://schemas.microsoft.com/office/drawing/2014/main" id="{5812D853-7A2B-4C77-A93D-8815F14A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× 3 board</a:t>
            </a:r>
          </a:p>
        </p:txBody>
      </p:sp>
      <p:sp>
        <p:nvSpPr>
          <p:cNvPr id="8" name="text-box">
            <a:extLst xmlns:a="http://schemas.openxmlformats.org/drawingml/2006/main">
              <a:ext uri="{FF2B5EF4-FFF2-40B4-BE49-F238E27FC236}">
                <a16:creationId xmlns:a16="http://schemas.microsoft.com/office/drawing/2014/main" id="{0C619D11-DF0F-4AC0-BB0D-C77BFCB4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 always moves first</a:t>
            </a:r>
          </a:p>
        </p:txBody>
      </p:sp>
      <p:sp>
        <p:nvSpPr>
          <p:cNvPr id="9" name="text-box">
            <a:extLst xmlns:a="http://schemas.openxmlformats.org/drawingml/2006/main">
              <a:ext uri="{FF2B5EF4-FFF2-40B4-BE49-F238E27FC236}">
                <a16:creationId xmlns:a16="http://schemas.microsoft.com/office/drawing/2014/main" id="{FC75A608-84AA-4825-8E67-56BF90BC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Both players choose valid moves randomly</a:t>
            </a:r>
          </a:p>
        </p:txBody>
      </p:sp>
      <p:sp>
        <p:nvSpPr>
          <p:cNvPr id="10" name="text-box">
            <a:extLst xmlns:a="http://schemas.openxmlformats.org/drawingml/2006/main">
              <a:ext uri="{FF2B5EF4-FFF2-40B4-BE49-F238E27FC236}">
                <a16:creationId xmlns:a16="http://schemas.microsoft.com/office/drawing/2014/main" id="{72B60C65-584A-4097-8911-C27F6576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530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7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Fixed seed = reproducible results</a:t>
            </a:r>
          </a:p>
        </p:txBody>
      </p:sp>
    </p:spTree>
    <p:extLst>
      <p:ext uri="{BB962C8B-B14F-4D97-AF65-F5344CB8AC3E}">
        <p14:creationId xmlns:p14="http://schemas.microsoft.com/office/powerpoint/2010/main" val="1938971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099DDD-691B-4FD4-B3CA-97300956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workflow turns gameplay into analysis-ready data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31EF44-4ECA-47CE-8F71-993A12B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cxnSp>
        <p:nvCxnSpPr>
          <p:cNvPr id="18" name="process-line"/>
          <p:cNvCxnSpPr/>
          <p:nvPr/>
        </p:nvCxnSpPr>
        <p:spPr>
          <a:xfrm xmlns:a="http://schemas.openxmlformats.org/drawingml/2006/main">
            <a:off x="666750" y="314325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process-dot-01">
            <a:extLst xmlns:a="http://schemas.openxmlformats.org/drawingml/2006/main">
              <a:ext uri="{FF2B5EF4-FFF2-40B4-BE49-F238E27FC236}">
                <a16:creationId xmlns:a16="http://schemas.microsoft.com/office/drawing/2014/main" id="{0A88F28F-8CC6-4ACA-A71A-E8F08FDA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text-box">
            <a:extLst xmlns:a="http://schemas.openxmlformats.org/drawingml/2006/main">
              <a:ext uri="{FF2B5EF4-FFF2-40B4-BE49-F238E27FC236}">
                <a16:creationId xmlns:a16="http://schemas.microsoft.com/office/drawing/2014/main" id="{8E8FEB50-D272-4B4E-9A9E-15C48B1A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 SIMULATE</a:t>
            </a:r>
          </a:p>
        </p:txBody>
      </p:sp>
      <p:sp>
        <p:nvSpPr>
          <p:cNvPr id="6" name="text-box">
            <a:extLst xmlns:a="http://schemas.openxmlformats.org/drawingml/2006/main">
              <a:ext uri="{FF2B5EF4-FFF2-40B4-BE49-F238E27FC236}">
                <a16:creationId xmlns:a16="http://schemas.microsoft.com/office/drawing/2014/main" id="{1A0D90FF-1A54-44B1-B32F-61753B92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1,000 games</a:t>
            </a:r>
          </a:p>
        </p:txBody>
      </p:sp>
      <p:sp>
        <p:nvSpPr>
          <p:cNvPr id="7" name="text-box">
            <a:extLst xmlns:a="http://schemas.openxmlformats.org/drawingml/2006/main">
              <a:ext uri="{FF2B5EF4-FFF2-40B4-BE49-F238E27FC236}">
                <a16:creationId xmlns:a16="http://schemas.microsoft.com/office/drawing/2014/main" id="{921A9CFA-C6C7-4795-AA25-1E8BC61C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Random valid moves continue until a win or draw.</a:t>
            </a:r>
          </a:p>
        </p:txBody>
      </p:sp>
      <p:sp>
        <p:nvSpPr>
          <p:cNvPr id="8" name="process-dot-02">
            <a:extLst xmlns:a="http://schemas.openxmlformats.org/drawingml/2006/main">
              <a:ext uri="{FF2B5EF4-FFF2-40B4-BE49-F238E27FC236}">
                <a16:creationId xmlns:a16="http://schemas.microsoft.com/office/drawing/2014/main" id="{59DD2877-9B04-478C-A3CD-74E8E84D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text-box">
            <a:extLst xmlns:a="http://schemas.openxmlformats.org/drawingml/2006/main">
              <a:ext uri="{FF2B5EF4-FFF2-40B4-BE49-F238E27FC236}">
                <a16:creationId xmlns:a16="http://schemas.microsoft.com/office/drawing/2014/main" id="{49FA1764-7C06-4ABB-8519-B006E18F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 VALIDATE</a:t>
            </a:r>
          </a:p>
        </p:txBody>
      </p:sp>
      <p:sp>
        <p:nvSpPr>
          <p:cNvPr id="10" name="text-box">
            <a:extLst xmlns:a="http://schemas.openxmlformats.org/drawingml/2006/main">
              <a:ext uri="{FF2B5EF4-FFF2-40B4-BE49-F238E27FC236}">
                <a16:creationId xmlns:a16="http://schemas.microsoft.com/office/drawing/2014/main" id="{A08CD265-0E81-4F4A-AAC3-C0E28AD8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718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the DataFrame</a:t>
            </a:r>
          </a:p>
        </p:txBody>
      </p:sp>
      <p:sp>
        <p:nvSpPr>
          <p:cNvPr id="11" name="text-box">
            <a:extLst xmlns:a="http://schemas.openxmlformats.org/drawingml/2006/main">
              <a:ext uri="{FF2B5EF4-FFF2-40B4-BE49-F238E27FC236}">
                <a16:creationId xmlns:a16="http://schemas.microsoft.com/office/drawing/2014/main" id="{7234AE64-5F2C-4BB3-8FCA-D7B3C585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338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One row records every game's outcome and move history.</a:t>
            </a:r>
          </a:p>
        </p:txBody>
      </p:sp>
      <p:sp>
        <p:nvSpPr>
          <p:cNvPr id="12" name="process-dot-03">
            <a:extLst xmlns:a="http://schemas.openxmlformats.org/drawingml/2006/main">
              <a:ext uri="{FF2B5EF4-FFF2-40B4-BE49-F238E27FC236}">
                <a16:creationId xmlns:a16="http://schemas.microsoft.com/office/drawing/2014/main" id="{C76BBCEB-78D7-4068-AD64-F53207DB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text-box">
            <a:extLst xmlns:a="http://schemas.openxmlformats.org/drawingml/2006/main">
              <a:ext uri="{FF2B5EF4-FFF2-40B4-BE49-F238E27FC236}">
                <a16:creationId xmlns:a16="http://schemas.microsoft.com/office/drawing/2014/main" id="{122CA6F2-5B4E-4424-9BE4-DBA0E7B2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 ANALYZE</a:t>
            </a:r>
          </a:p>
        </p:txBody>
      </p:sp>
      <p:sp>
        <p:nvSpPr>
          <p:cNvPr id="14" name="text-box">
            <a:extLst xmlns:a="http://schemas.openxmlformats.org/drawingml/2006/main">
              <a:ext uri="{FF2B5EF4-FFF2-40B4-BE49-F238E27FC236}">
                <a16:creationId xmlns:a16="http://schemas.microsoft.com/office/drawing/2014/main" id="{321C9535-B9AF-48A5-A271-18F9E162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Summarize patterns</a:t>
            </a:r>
          </a:p>
        </p:txBody>
      </p:sp>
      <p:sp>
        <p:nvSpPr>
          <p:cNvPr id="15" name="text-box">
            <a:extLst xmlns:a="http://schemas.openxmlformats.org/drawingml/2006/main">
              <a:ext uri="{FF2B5EF4-FFF2-40B4-BE49-F238E27FC236}">
                <a16:creationId xmlns:a16="http://schemas.microsoft.com/office/drawing/2014/main" id="{CF3F34EF-F7C5-4069-8DE2-07560E9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338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Outcome rates and game lengths reveal baseline behavior.</a:t>
            </a:r>
          </a:p>
        </p:txBody>
      </p:sp>
    </p:spTree>
    <p:extLst>
      <p:ext uri="{BB962C8B-B14F-4D97-AF65-F5344CB8AC3E}">
        <p14:creationId xmlns:p14="http://schemas.microsoft.com/office/powerpoint/2010/main" val="18978182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104DCCE-956A-45EB-989A-7970DBCB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F591FC52-93B7-48FA-85D0-18E39C6F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7C1CBEE-EE4A-4BC0-8853-E1C0F912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7FD400C-D31F-4B79-85BB-7525C74D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15734C1-4612-41FA-862F-CBD4FE6E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final dataset is complete and analysis-ready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4989DB0-2C5F-41FF-A6C0-0388026D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 games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8E85A70-B58F-4FDF-A3EF-83FDD342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missing values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F2A3054A-446C-49E9-A88E-D4336137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recorded variables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6AE2171-D223-43B2-B7F9-659ADEA5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1,000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FD3E94D-5E10-4F67-9BFF-14EABDB5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313840F-E405-48C3-A7ED-218D549D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5E1244F-A085-44ED-A887-93DAFF01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QUALITY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row represents one completed game. Validation confirmed unique IDs, allowed outcomes, valid game lengths, and no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101289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894F1-E552-45A9-B784-F1B13356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Moving first created a clear advantage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B944E0-5662-4B50-8CD3-6531ECB3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76250" y="1571625"/>
          <a:ext xmlns:a="http://schemas.openxmlformats.org/drawingml/2006/main" cx="6667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79c095f9914b03"/>
          </a:graphicData>
        </a:graphic>
      </p:graphicFrame>
      <p:sp>
        <p:nvSpPr>
          <p:cNvPr id="4" name="text-box">
            <a:extLst xmlns:a="http://schemas.openxmlformats.org/drawingml/2006/main">
              <a:ext uri="{FF2B5EF4-FFF2-40B4-BE49-F238E27FC236}">
                <a16:creationId xmlns:a16="http://schemas.microsoft.com/office/drawing/2014/main" id="{F64EBED8-5201-4FF0-A3E8-8D820470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59.6%</a:t>
            </a:r>
          </a:p>
        </p:txBody>
      </p:sp>
      <p:sp>
        <p:nvSpPr>
          <p:cNvPr id="5" name="text-box">
            <a:extLst xmlns:a="http://schemas.openxmlformats.org/drawingml/2006/main">
              <a:ext uri="{FF2B5EF4-FFF2-40B4-BE49-F238E27FC236}">
                <a16:creationId xmlns:a16="http://schemas.microsoft.com/office/drawing/2014/main" id="{8281E82B-D904-4F03-9687-B3C4505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of games were won by X</a:t>
            </a:r>
          </a:p>
        </p:txBody>
      </p:sp>
      <p:sp>
        <p:nvSpPr>
          <p:cNvPr id="6" name="text-box">
            <a:extLst xmlns:a="http://schemas.openxmlformats.org/drawingml/2006/main">
              <a:ext uri="{FF2B5EF4-FFF2-40B4-BE49-F238E27FC236}">
                <a16:creationId xmlns:a16="http://schemas.microsoft.com/office/drawing/2014/main" id="{03EBB392-8C3C-4E66-AD23-EEF3138C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 had more opportunities to complete a winning line because X always moved first.</a:t>
            </a:r>
          </a:p>
        </p:txBody>
      </p:sp>
      <p:sp>
        <p:nvSpPr>
          <p:cNvPr id="7" name="text-box">
            <a:extLst xmlns:a="http://schemas.openxmlformats.org/drawingml/2006/main">
              <a:ext uri="{FF2B5EF4-FFF2-40B4-BE49-F238E27FC236}">
                <a16:creationId xmlns:a16="http://schemas.microsoft.com/office/drawing/2014/main" id="{728A1DC5-1997-4BF9-9F8B-F2950401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9112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Interpretation: a baseline result—not proof that X always wins.</a:t>
            </a:r>
          </a:p>
        </p:txBody>
      </p:sp>
    </p:spTree>
    <p:extLst>
      <p:ext uri="{BB962C8B-B14F-4D97-AF65-F5344CB8AC3E}">
        <p14:creationId xmlns:p14="http://schemas.microsoft.com/office/powerpoint/2010/main" val="1440505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A6CB59-FECA-4DE7-846A-B93C0B6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baseline is useful because its limits are explicit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E4A332-1404-4D92-B331-7F40E2D3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text-box">
            <a:extLst xmlns:a="http://schemas.openxmlformats.org/drawingml/2006/main">
              <a:ext uri="{FF2B5EF4-FFF2-40B4-BE49-F238E27FC236}">
                <a16:creationId xmlns:a16="http://schemas.microsoft.com/office/drawing/2014/main" id="{3CFF97AE-6037-463D-A303-B929278D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THE DATA SUPPORTS</a:t>
            </a:r>
          </a:p>
        </p:txBody>
      </p:sp>
      <p:sp>
        <p:nvSpPr>
          <p:cNvPr id="4" name="text-box">
            <a:extLst xmlns:a="http://schemas.openxmlformats.org/drawingml/2006/main">
              <a:ext uri="{FF2B5EF4-FFF2-40B4-BE49-F238E27FC236}">
                <a16:creationId xmlns:a16="http://schemas.microsoft.com/office/drawing/2014/main" id="{F733EDD9-A7C1-40F6-899E-D0D9A41B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191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Random play produced a strong first-player advantage.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Most games ended before all nine spaces were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The complete dataset can be reproduced from a fixed seed.</a:t>
            </a:r>
          </a:p>
        </p:txBody>
      </p:sp>
      <p:sp>
        <p:nvSpPr>
          <p:cNvPr id="5" name="limitations-panel">
            <a:extLst xmlns:a="http://schemas.openxmlformats.org/drawingml/2006/main">
              <a:ext uri="{FF2B5EF4-FFF2-40B4-BE49-F238E27FC236}">
                <a16:creationId xmlns:a16="http://schemas.microsoft.com/office/drawing/2014/main" id="{1AE4D92C-7AF8-40BD-A996-E984043A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54578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text-box">
            <a:extLst xmlns:a="http://schemas.openxmlformats.org/drawingml/2006/main">
              <a:ext uri="{FF2B5EF4-FFF2-40B4-BE49-F238E27FC236}">
                <a16:creationId xmlns:a16="http://schemas.microsoft.com/office/drawing/2014/main" id="{C94FA14B-58F7-4761-A7B1-D9BE775C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7" name="text-box">
            <a:extLst xmlns:a="http://schemas.openxmlformats.org/drawingml/2006/main">
              <a:ext uri="{FF2B5EF4-FFF2-40B4-BE49-F238E27FC236}">
                <a16:creationId xmlns:a16="http://schemas.microsoft.com/office/drawing/2014/main" id="{BA16E7B6-1AE5-45DC-8508-88B90D03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 always starts</a:t>
            </a:r>
          </a:p>
        </p:txBody>
      </p:sp>
      <p:sp>
        <p:nvSpPr>
          <p:cNvPr id="8" name="text-box">
            <a:extLst xmlns:a="http://schemas.openxmlformats.org/drawingml/2006/main">
              <a:ext uri="{FF2B5EF4-FFF2-40B4-BE49-F238E27FC236}">
                <a16:creationId xmlns:a16="http://schemas.microsoft.com/office/drawing/2014/main" id="{C12AF0F7-BCB6-4798-90BF-827CFE5D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Both players use the same random rule</a:t>
            </a:r>
          </a:p>
        </p:txBody>
      </p:sp>
      <p:sp>
        <p:nvSpPr>
          <p:cNvPr id="9" name="text-box">
            <a:extLst xmlns:a="http://schemas.openxmlformats.org/drawingml/2006/main">
              <a:ext uri="{FF2B5EF4-FFF2-40B4-BE49-F238E27FC236}">
                <a16:creationId xmlns:a16="http://schemas.microsoft.com/office/drawing/2014/main" id="{CE0C98EB-275D-4E96-9323-2BDB5C81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human or strategic behavior is modeled</a:t>
            </a:r>
          </a:p>
        </p:txBody>
      </p:sp>
    </p:spTree>
    <p:extLst>
      <p:ext uri="{BB962C8B-B14F-4D97-AF65-F5344CB8AC3E}">
        <p14:creationId xmlns:p14="http://schemas.microsoft.com/office/powerpoint/2010/main" val="4875874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9828931-5F80-4EA3-A3F8-6873A6F7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random play
with strategy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8A6F4F4-89F1-4DD8-9978-C67A619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 strategic logic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outcomes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the gap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55CF39F-CB56-4182-BD43-6122FFD7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178803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2026-08-18T02:00:36.2880000Z</dcterms:created>
  <dcterms:modified xsi:type="dcterms:W3CDTF">2026-08-18T02:00:36.2880000Z</dcterms:modified>
</coreProperties>
</file>